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Big Data IoT AI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A78BFA"/>
                </a:solidFill>
                <a:latin typeface="Segoe UI"/>
              </a:defRPr>
            </a:pPr>
            <a:r>
              <a:t>Intelligent Smart Home Analytics with 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91840"/>
            <a:ext cx="2133295" cy="25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1800">
                <a:solidFill>
                  <a:srgbClr val="CBD5E1"/>
                </a:solidFill>
                <a:latin typeface="Segoe UI"/>
              </a:defRPr>
            </a:pPr>
            <a:r>
              <a:t>Integrating Big Data Analytics with IoT Sensor Data</a:t>
            </a:r>
            <a:br/>
            <a:r>
              <a:t>for Predictive Automation and Anomaly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846320"/>
            <a:ext cx="7619695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86000" y="4937760"/>
            <a:ext cx="7619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400">
                <a:solidFill>
                  <a:srgbClr val="A78BFA"/>
                </a:solidFill>
                <a:latin typeface="Segoe UI"/>
              </a:defRPr>
            </a:pPr>
            <a:r>
              <a:t>Project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21208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Mostafa Elsayed • Mostafa Ahmed • Youssef Elboraey • Mohamed Abdo</a:t>
            </a:r>
            <a:br/>
            <a:r>
              <a:t>Layla Mostafa • Nora Osama • Nada Ashraf • Manar Montaser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Supervised by: Dr. Asmaa Saad  |  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A78BFA"/>
                </a:solidFill>
                <a:latin typeface="Segoe UI"/>
              </a:defRPr>
            </a:pPr>
            <a: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2D3EE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Abstract &amp;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Project overview, background, and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459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A78BFA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Related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Comparative analysis of previous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D399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System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17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Requirements, stakeholders, and use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432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B923C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7432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017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Architecture, database, and UI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7171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114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Technologies, modules, and ML algorithms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2D3EE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8404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Results &amp; Discussion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114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Model performance and visualizations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9377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Future Work &amp; Challenges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212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Roadmap and technical hurdles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D399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9377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Project Life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Development process and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Executive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22D3EE"/>
                </a:solidFill>
                <a:latin typeface="Segoe UI"/>
              </a:defRPr>
            </a:pPr>
            <a:r>
              <a:t>Project Overview &amp; 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500">
                <a:solidFill>
                  <a:srgbClr val="CBD5E1"/>
                </a:solidFill>
                <a:latin typeface="Segoe UI"/>
              </a:defRPr>
            </a:pPr>
            <a:r>
              <a:t>This project integrates Big Data analytics with IoT sensor data to build</a:t>
            </a:r>
            <a:br/>
            <a:r>
              <a:t>an intelligent Smart Home system.</a:t>
            </a:r>
            <a:br/>
            <a:br/>
            <a:r>
              <a:t>Data collected from sensors (temperature, humidity, gas, soil, rain, PIR, distance)</a:t>
            </a:r>
            <a:br/>
            <a:r>
              <a:t>is processed using Python, Pandas, and Scikit-learn.</a:t>
            </a:r>
            <a:br/>
            <a:br/>
            <a:r>
              <a:t>The system applies:</a:t>
            </a:r>
            <a:br/>
            <a:r>
              <a:t>• KMeans clustering for unsupervised learning</a:t>
            </a:r>
            <a:br/>
            <a:r>
              <a:t>• Random Forest classification for labeled datasets</a:t>
            </a:r>
            <a:br/>
            <a:br/>
            <a:r>
              <a:t>Through descriptive and predictive analytics, the system detects anomalies</a:t>
            </a:r>
            <a:br/>
            <a:r>
              <a:t>such as gas leaks, irrigation needs, and motion alerts,</a:t>
            </a:r>
            <a:br/>
            <a:r>
              <a:t>transforming raw sensor data into actionable insights.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4048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79" y="16459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🤖 ML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KMeans + Random Forest</a:t>
            </a:r>
            <a:br/>
            <a:r>
              <a:t>Clustering &amp; Classification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743200"/>
            <a:ext cx="384048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📊 Big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10896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100k+ Records</a:t>
            </a:r>
            <a:br/>
            <a:r>
              <a:t>Scalable Analytics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931920"/>
            <a:ext cx="384048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402336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Segoe UI"/>
              </a:defRPr>
            </a:pPr>
            <a:r>
              <a:t>🔍 Anomaly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29768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Gas Leaks</a:t>
            </a:r>
            <a:br/>
            <a:r>
              <a:t>Irrigation Alerts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5120640"/>
            <a:ext cx="384048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79" y="5212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⚡ Real-Time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4864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&lt; 1 sec Training</a:t>
            </a:r>
            <a:br/>
            <a:r>
              <a:t>Instant Predictions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A78BFA"/>
                </a:solidFill>
                <a:latin typeface="Segoe UI"/>
              </a:defRPr>
            </a:pPr>
            <a:r>
              <a:t>Background, Problem Statement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📚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>
                <a:solidFill>
                  <a:srgbClr val="CBD5E1"/>
                </a:solidFill>
                <a:latin typeface="Segoe UI"/>
              </a:defRPr>
            </a:pPr>
            <a:r>
              <a:t>Big Data enables large-scale analysis of IoT sensor streams, allowing predictive automation and anomaly detection. Traditional IoT systems lack scalability and predictive intelligence.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Segoe UI"/>
              </a:defRPr>
            </a:pPr>
            <a:r>
              <a:t>❌ 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>
                <a:solidFill>
                  <a:srgbClr val="CBD5E1"/>
                </a:solidFill>
                <a:latin typeface="Segoe UI"/>
              </a:defRPr>
            </a:pPr>
            <a:r>
              <a:t>Traditional IoT systems lack scalability and predictive intelligence. They cannot handle large datasets or provide actionable insights from sensor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Segoe UI"/>
              </a:defRPr>
            </a:pPr>
            <a:r>
              <a:t>✅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▸  Collect and preprocess large datasets (100k+ records)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▸  Apply descriptive and predictive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▸  Build clustering and classification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383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▸  Evaluate model performance using accuracy and silhouette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6320"/>
            <a:ext cx="11277295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D3EE"/>
                </a:solidFill>
                <a:latin typeface="Segoe UI"/>
              </a:defRPr>
            </a:pPr>
            <a:r>
              <a:t>🎯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57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>
                <a:solidFill>
                  <a:srgbClr val="CBD5E1"/>
                </a:solidFill>
                <a:latin typeface="Segoe UI"/>
              </a:defRPr>
            </a:pPr>
            <a:r>
              <a:t>Hardware (ESP32 + sensors)  →  Data Layer (CSV + Supabase)  →  Application Layer (Python ML + Gradio interface)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8BDF8"/>
                </a:solidFill>
                <a:latin typeface="Segoe UI"/>
              </a:defRPr>
            </a:pPr>
            <a:r>
              <a:t>Comparative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77295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Segoe UI"/>
              </a:defRPr>
            </a:pPr>
            <a:r>
              <a:t>Previous Projects vs Our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031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Previous 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031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Our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Data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F87171"/>
                </a:solidFill>
                <a:latin typeface="Segoe UI"/>
              </a:defRPr>
            </a:pPr>
            <a:r>
              <a:t>Firebase or Local Servers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34D399"/>
                </a:solidFill>
                <a:latin typeface="Segoe UI"/>
              </a:defRPr>
            </a:pPr>
            <a:r>
              <a:t>Supabase + CSV + Spark-ready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718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F87171"/>
                </a:solidFill>
                <a:latin typeface="Segoe UI"/>
              </a:defRPr>
            </a:pPr>
            <a:r>
              <a:t>Limited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9718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34D399"/>
                </a:solidFill>
                <a:latin typeface="Segoe UI"/>
              </a:defRPr>
            </a:pPr>
            <a:r>
              <a:t>Highly Scalable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474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F87171"/>
                </a:solidFill>
                <a:latin typeface="Segoe UI"/>
              </a:defRPr>
            </a:pPr>
            <a:r>
              <a:t>Basic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474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34D399"/>
                </a:solidFill>
                <a:latin typeface="Segoe UI"/>
              </a:defRPr>
            </a:pPr>
            <a:r>
              <a:t>Big Data + ML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77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ML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977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F87171"/>
                </a:solidFill>
                <a:latin typeface="Segoe UI"/>
              </a:defRPr>
            </a:pPr>
            <a:r>
              <a:t>None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977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34D399"/>
                </a:solidFill>
                <a:latin typeface="Segoe UI"/>
              </a:defRPr>
            </a:pPr>
            <a:r>
              <a:t>KMeans + 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805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Real-Time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4805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F87171"/>
                </a:solidFill>
                <a:latin typeface="Segoe UI"/>
              </a:defRPr>
            </a:pPr>
            <a:r>
              <a:t>Basic Sync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4805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34D399"/>
                </a:solidFill>
                <a:latin typeface="Segoe UI"/>
              </a:defRPr>
            </a:pPr>
            <a:r>
              <a:t>Real-time + Predictive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9834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F87171"/>
                </a:solidFill>
                <a:latin typeface="Segoe UI"/>
              </a:defRPr>
            </a:pPr>
            <a:r>
              <a:t>Basic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9834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34D399"/>
                </a:solidFill>
                <a:latin typeface="Segoe UI"/>
              </a:defRPr>
            </a:pPr>
            <a:r>
              <a:t>Gradio + Flutter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03520"/>
            <a:ext cx="11277295" cy="1097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4864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34D399"/>
                </a:solidFill>
                <a:latin typeface="Segoe UI"/>
              </a:defRPr>
            </a:pPr>
            <a:r>
              <a:t>✨ Our innovation: Supabase + CSV + Spark-ready pipeline for scalable Big Data handling and real-time analytics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22D3EE"/>
                </a:solidFill>
                <a:latin typeface="Segoe UI"/>
              </a:defRPr>
            </a:pPr>
            <a:r>
              <a:t>Three-Layer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57600" cy="2926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🟦 Layer 1: Hardware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Segoe UI"/>
              </a:defRPr>
            </a:pPr>
            <a:r>
              <a:t>Hardware Layer (ESP32 + Sensors)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• ESP32 with 7 sensors streaming data</a:t>
            </a:r>
            <a:br/>
            <a:r>
              <a:t>• Temperature, Humidity, Gas, Soil, Rain, PIR, Distance</a:t>
            </a:r>
            <a:br/>
            <a:r>
              <a:t>• Serial communication for data transmission</a:t>
            </a:r>
            <a:br/>
            <a:r>
              <a:t>• Real-time sensor data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645920"/>
            <a:ext cx="3657600" cy="2926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400" y="178308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  <a:latin typeface="Segoe UI"/>
              </a:defRPr>
            </a:pPr>
            <a:r>
              <a:t>🟩 Layer 2: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1031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Segoe UI"/>
              </a:defRPr>
            </a:pPr>
            <a:r>
              <a:t>Data Layer (CSV + Supabase)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37744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• CSV storage for local data handling</a:t>
            </a:r>
            <a:br/>
            <a:r>
              <a:t>• Supabase for cloud synchronization</a:t>
            </a:r>
            <a:br/>
            <a:r>
              <a:t>• Spark-ready pipeline for Big Data</a:t>
            </a:r>
            <a:br/>
            <a:r>
              <a:t>• Structured tables: iot_data, iot_clusters, iot_control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645920"/>
            <a:ext cx="3657600" cy="2926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39" y="178308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FB923C"/>
                </a:solidFill>
                <a:latin typeface="Segoe UI"/>
              </a:defRPr>
            </a:pPr>
            <a:r>
              <a:t>🟧 Layer 3: 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21031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Segoe UI"/>
              </a:defRPr>
            </a:pPr>
            <a:r>
              <a:t>Application Layer (Python ML + Gradio)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37744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• Python ML pipeline with Scikit-learn</a:t>
            </a:r>
            <a:br/>
            <a:r>
              <a:t>• KMeans clustering &amp; Random Forest classification</a:t>
            </a:r>
            <a:br/>
            <a:r>
              <a:t>• Gradio interface for user interaction</a:t>
            </a:r>
            <a:br/>
            <a:r>
              <a:t>• Real-time predictions and visualizations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54880"/>
            <a:ext cx="112772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🔄 Data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800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Sensors → ESP32 → CSV Storage → Python ML Pipeline → </a:t>
            </a:r>
            <a:r>
              <a:rPr dirty="0" err="1"/>
              <a:t>Gradio</a:t>
            </a:r>
            <a:r>
              <a:rPr dirty="0"/>
              <a:t> UI → User</a:t>
            </a:r>
            <a:br>
              <a:rPr dirty="0"/>
            </a:br>
            <a:r>
              <a:rPr dirty="0"/>
              <a:t>                                        ↓</a:t>
            </a:r>
            <a:br>
              <a:rPr dirty="0"/>
            </a:br>
            <a:r>
              <a:rPr dirty="0"/>
              <a:t>                                  </a:t>
            </a:r>
            <a:r>
              <a:rPr dirty="0" err="1"/>
              <a:t>Supabase</a:t>
            </a:r>
            <a:r>
              <a:rPr dirty="0"/>
              <a:t> (Cloud Sync)</a:t>
            </a:r>
            <a:br>
              <a:rPr dirty="0"/>
            </a:br>
            <a:r>
              <a:rPr dirty="0"/>
              <a:t>                                        ↓</a:t>
            </a:r>
            <a:br>
              <a:rPr dirty="0"/>
            </a:br>
            <a:r>
              <a:rPr dirty="0"/>
              <a:t>                              Spark/Hadoop (Future Big Data)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System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D399"/>
                </a:solidFill>
                <a:latin typeface="Segoe UI"/>
              </a:defRPr>
            </a:pPr>
            <a:r>
              <a:t>Requirements &amp;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👤 User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Real-time monitoring of sensor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47093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Anomaly detection and alerts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599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Predictive analytics for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258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D3EE"/>
                </a:solidFill>
                <a:latin typeface="Segoe UI"/>
              </a:defRPr>
            </a:pPr>
            <a:r>
              <a:rPr dirty="0"/>
              <a:t>⚙️ Functional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9439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Data ingestion from ESP32 sensors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776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Data preprocessing and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1809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Clustering and classification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Visualization and reporting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Segoe UI"/>
              </a:defRPr>
            </a:pPr>
            <a:r>
              <a:t>🔒 Non-Functional Requirements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Scalability for 100k+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51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Low latency real-time processing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Secure data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6042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  <a:latin typeface="Segoe UI"/>
              </a:defRPr>
            </a:pPr>
            <a:r>
              <a:rPr dirty="0"/>
              <a:t>🎯 Use 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Predictive irrigation based on soil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2256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Gas leak detection and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1321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▸  Motion monitoring and security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029200"/>
            <a:ext cx="1127729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👥 Stakeholders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>
                <a:solidFill>
                  <a:srgbClr val="CBD5E1"/>
                </a:solidFill>
                <a:latin typeface="Segoe UI"/>
              </a:defRPr>
            </a:pPr>
            <a:r>
              <a:t>Users (Homeowners)  →  Developers (ML Engineers)  →  Supervisors (Dr. Asmaa Saad)  →  Data Scientists (Future Analytics)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A78BFA"/>
                </a:solidFill>
                <a:latin typeface="Segoe UI"/>
              </a:defRPr>
            </a:pPr>
            <a:r>
              <a:t>Data Storage &amp;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7432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  <a:latin typeface="Segoe UI"/>
              </a:defRPr>
            </a:pPr>
            <a:r>
              <a:t>📊 iot_data.csv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Sensor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• temperature, humidity, gas</a:t>
            </a:r>
            <a:br/>
            <a:r>
              <a:t>• soil, rain, pir, distance</a:t>
            </a:r>
            <a:br/>
            <a:r>
              <a:t>• timestamp, device_id</a:t>
            </a:r>
            <a:br/>
            <a:r>
              <a:t>• Raw sensor readings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7432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Segoe UI"/>
              </a:defRPr>
            </a:pPr>
            <a:r>
              <a:t>🔍 iot_clusters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Clustering 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317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• cluster_id, cluster_label</a:t>
            </a:r>
            <a:br/>
            <a:r>
              <a:t>• centroid values</a:t>
            </a:r>
            <a:br/>
            <a:r>
              <a:t>• silhouette scores</a:t>
            </a:r>
            <a:br/>
            <a:r>
              <a:t>• KMeans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66160" cy="27432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7373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  <a:latin typeface="Segoe UI"/>
              </a:defRPr>
            </a:pPr>
            <a:r>
              <a:t>🎛️ iot_control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Device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• device_id, status</a:t>
            </a:r>
            <a:br/>
            <a:r>
              <a:t>• control commands</a:t>
            </a:r>
            <a:br/>
            <a:r>
              <a:t>• automation rules</a:t>
            </a:r>
            <a:br/>
            <a:r>
              <a:t>• User preferences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11277295" cy="1828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🔄 Data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663440"/>
            <a:ext cx="10789920" cy="1740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Sensors → ESP32 → CSV (Local Storage) → Python ML Pipeline → </a:t>
            </a:r>
            <a:r>
              <a:rPr dirty="0" err="1"/>
              <a:t>Gradio</a:t>
            </a:r>
            <a:r>
              <a:rPr dirty="0"/>
              <a:t> UI</a:t>
            </a:r>
            <a:br>
              <a:rPr dirty="0"/>
            </a:br>
            <a:r>
              <a:rPr dirty="0"/>
              <a:t>                    ↓</a:t>
            </a:r>
            <a:br>
              <a:rPr dirty="0"/>
            </a:br>
            <a:r>
              <a:rPr dirty="0"/>
              <a:t>              </a:t>
            </a:r>
            <a:r>
              <a:rPr dirty="0" err="1"/>
              <a:t>Supabase</a:t>
            </a:r>
            <a:r>
              <a:rPr dirty="0"/>
              <a:t> (Cloud Sync)</a:t>
            </a:r>
            <a:br>
              <a:rPr dirty="0"/>
            </a:br>
            <a:r>
              <a:rPr dirty="0"/>
              <a:t>                    ↓</a:t>
            </a:r>
            <a:br>
              <a:rPr dirty="0"/>
            </a:br>
            <a:r>
              <a:rPr dirty="0"/>
              <a:t>         Spark/Hadoop (Future Distributed Processing)</a:t>
            </a:r>
            <a:br>
              <a:rPr dirty="0"/>
            </a:br>
            <a:r>
              <a:rPr dirty="0"/>
              <a:t>✅ CSV format ready for migration to </a:t>
            </a:r>
            <a:r>
              <a:rPr dirty="0" err="1"/>
              <a:t>Supabase</a:t>
            </a:r>
            <a:r>
              <a:rPr dirty="0"/>
              <a:t> or Spark for large-scale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UI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923C"/>
                </a:solidFill>
                <a:latin typeface="Segoe UI"/>
              </a:defRPr>
            </a:pPr>
            <a:r>
              <a:t>Gradio Interface + Flutter Mobile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303520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Segoe UI"/>
              </a:defRPr>
            </a:pPr>
            <a:r>
              <a:t>🖥️ Gradio Web 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Input Fields:</a:t>
            </a:r>
            <a:br/>
            <a:r>
              <a:t>• Temp, Humid, Gas, Soil, Rain, PIR, Distance</a:t>
            </a:r>
            <a:br/>
            <a:br/>
            <a:r>
              <a:t>Output:</a:t>
            </a:r>
            <a:br/>
            <a:r>
              <a:t>• Model Result (Cluster/Class)</a:t>
            </a:r>
            <a:br/>
            <a:r>
              <a:t>• Flag (Normal/Danger/Irrigation)</a:t>
            </a:r>
            <a:br/>
            <a:br/>
            <a:r>
              <a:t>Features:</a:t>
            </a:r>
            <a:br/>
            <a:r>
              <a:t>• Real-time sensor value input</a:t>
            </a:r>
            <a:br/>
            <a:r>
              <a:t>• Instant ML prediction</a:t>
            </a:r>
            <a:br/>
            <a:r>
              <a:t>• Visual feedback with color coding</a:t>
            </a:r>
            <a:br/>
            <a:r>
              <a:t>• Easy-to-use web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303520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📱 Flutter Mobile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Screens:</a:t>
            </a:r>
            <a:br/>
            <a:r>
              <a:t>• Dashboard - Real-time monitoring</a:t>
            </a:r>
            <a:br/>
            <a:r>
              <a:t>• Big Data Analysis - Historical trends</a:t>
            </a:r>
            <a:br/>
            <a:r>
              <a:t>• Controls - Device management</a:t>
            </a:r>
            <a:br/>
            <a:r>
              <a:t>• Notifications - Alert system</a:t>
            </a:r>
            <a:br/>
            <a:br/>
            <a:r>
              <a:t>Features:</a:t>
            </a:r>
            <a:br/>
            <a:r>
              <a:t>• Cross-platform (iOS/Android)</a:t>
            </a:r>
            <a:br/>
            <a:r>
              <a:t>• Real-time data sync</a:t>
            </a:r>
            <a:br/>
            <a:r>
              <a:t>• Push notifications</a:t>
            </a:r>
            <a:br/>
            <a:r>
              <a:t>• Dark theme UI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A78BFA"/>
                </a:solidFill>
                <a:latin typeface="Segoe UI"/>
              </a:defRPr>
            </a:pPr>
            <a:r>
              <a:t>Technologies &amp;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🐍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Core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Data processing</a:t>
            </a:r>
            <a:br/>
            <a:r>
              <a:t>ML model building</a:t>
            </a:r>
            <a:br/>
            <a:r>
              <a:t>Pipeline 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  <a:latin typeface="Segoe UI"/>
              </a:defRPr>
            </a:pPr>
            <a:r>
              <a:t>📊 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116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Data Manipulation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DataFrames &amp; Series</a:t>
            </a:r>
            <a:br/>
            <a:r>
              <a:t>CSV handling</a:t>
            </a:r>
            <a:br/>
            <a:r>
              <a:t>Data transformation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7373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  <a:latin typeface="Segoe UI"/>
              </a:defRPr>
            </a:pPr>
            <a:r>
              <a:t>🔢 NumPy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Numerical Computing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402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Array operations</a:t>
            </a:r>
            <a:br/>
            <a:r>
              <a:t>Mathematical functions</a:t>
            </a:r>
            <a:br/>
            <a:r>
              <a:t>Statistical analysis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5661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FB923C"/>
                </a:solidFill>
                <a:latin typeface="Segoe UI"/>
              </a:defRPr>
            </a:pPr>
            <a:r>
              <a:t>📈 Matplotlib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8404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Visualization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Static plots</a:t>
            </a:r>
            <a:br/>
            <a:r>
              <a:t>Charts &amp; graphs</a:t>
            </a:r>
            <a:br/>
            <a:r>
              <a:t>Export images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34840" y="35661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Segoe UI"/>
              </a:defRPr>
            </a:pPr>
            <a:r>
              <a:t>🎨 Seaborn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8404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Statistical Viz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0690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Heatmaps</a:t>
            </a:r>
            <a:br/>
            <a:r>
              <a:t>Distribution plots</a:t>
            </a:r>
            <a:br/>
            <a:r>
              <a:t>Correlation matrices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20" y="35661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Segoe UI"/>
              </a:defRPr>
            </a:pPr>
            <a:r>
              <a:t>🤖 Scikit-learn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840480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4A3B8"/>
                </a:solidFill>
                <a:latin typeface="Segoe UI"/>
              </a:defRPr>
            </a:pPr>
            <a:r>
              <a:t>Machine Learning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KMeans clustering</a:t>
            </a:r>
            <a:br/>
            <a:r>
              <a:t>Random Forest</a:t>
            </a:r>
            <a:br/>
            <a:r>
              <a:t>Model evaluation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080"/>
            <a:ext cx="11277295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53035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🔗 Additional Tools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577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Gradio (Web UI)  •  Supabase (Cloud DB)  •  MQTT (IoT Protocol)  •  ESP32 (Microcontroller)  •  CSV (Local Storage)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Core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A78BFA"/>
                </a:solidFill>
                <a:latin typeface="Segoe UI"/>
              </a:defRPr>
            </a:pPr>
            <a:r>
              <a:t>Machine Learning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303520" cy="3200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Segoe UI"/>
              </a:defRPr>
            </a:pPr>
            <a:r>
              <a:t>🔍 KMeans Clustering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Unsupervised Learning for Unlabeled Data</a:t>
            </a:r>
            <a:br>
              <a:rPr dirty="0"/>
            </a:br>
            <a:br>
              <a:rPr dirty="0"/>
            </a:br>
            <a:r>
              <a:rPr dirty="0"/>
              <a:t>• Groups sensor data into clusters:</a:t>
            </a:r>
            <a:br>
              <a:rPr dirty="0"/>
            </a:br>
            <a:r>
              <a:rPr dirty="0"/>
              <a:t>  - Normal (green)</a:t>
            </a:r>
            <a:br>
              <a:rPr dirty="0"/>
            </a:br>
            <a:r>
              <a:rPr dirty="0"/>
              <a:t>  - Danger (red)</a:t>
            </a:r>
            <a:br>
              <a:rPr dirty="0"/>
            </a:br>
            <a:r>
              <a:rPr dirty="0"/>
              <a:t>  - Irrigation needed (blue)</a:t>
            </a:r>
            <a:br>
              <a:rPr dirty="0"/>
            </a:br>
            <a:br>
              <a:rPr dirty="0"/>
            </a:br>
            <a:r>
              <a:rPr dirty="0"/>
              <a:t>• Algorithm: </a:t>
            </a:r>
            <a:r>
              <a:rPr dirty="0" err="1"/>
              <a:t>KMeans</a:t>
            </a:r>
            <a:r>
              <a:rPr dirty="0"/>
              <a:t> (k=3)</a:t>
            </a:r>
            <a:br>
              <a:rPr dirty="0"/>
            </a:br>
            <a:r>
              <a:rPr dirty="0"/>
              <a:t>• Distance metric: Euclidean</a:t>
            </a:r>
            <a:br>
              <a:rPr dirty="0"/>
            </a:br>
            <a:r>
              <a:rPr dirty="0"/>
              <a:t>• Initialization: K-Means++</a:t>
            </a:r>
            <a:br>
              <a:rPr dirty="0"/>
            </a:br>
            <a:br>
              <a:rPr dirty="0"/>
            </a:br>
            <a:r>
              <a:rPr dirty="0"/>
              <a:t>• Evaluation: Silhouette Score ≈ 0.75</a:t>
            </a:r>
            <a:br>
              <a:rPr dirty="0"/>
            </a:br>
            <a:r>
              <a:rPr dirty="0"/>
              <a:t>  (Good clustering quality)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303520" cy="3200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Segoe UI"/>
              </a:defRPr>
            </a:pPr>
            <a:r>
              <a:t>🌲 Random Forest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Supervised Learning for Labeled Datasets</a:t>
            </a:r>
            <a:br/>
            <a:br/>
            <a:r>
              <a:t>• Classification of sensor states:</a:t>
            </a:r>
            <a:br/>
            <a:r>
              <a:t>  - Normal operation</a:t>
            </a:r>
            <a:br/>
            <a:r>
              <a:t>  - Gas leak alert</a:t>
            </a:r>
            <a:br/>
            <a:r>
              <a:t>  - Irrigation required</a:t>
            </a:r>
            <a:br/>
            <a:r>
              <a:t>  - Motion detected</a:t>
            </a:r>
            <a:br/>
            <a:br/>
            <a:r>
              <a:t>• Algorithm: Random Forest (100 estimators)</a:t>
            </a:r>
            <a:br/>
            <a:r>
              <a:t>• Features: All 7 sensor values</a:t>
            </a:r>
            <a:br/>
            <a:r>
              <a:t>• Target: Alert type (4 classes)</a:t>
            </a:r>
            <a:br/>
            <a:br/>
            <a:r>
              <a:t>• Evaluation: Accuracy, Precision, Recall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37760"/>
            <a:ext cx="11277295" cy="14630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Segoe UI"/>
              </a:defRPr>
            </a:pPr>
            <a:r>
              <a:t>⚙️ Data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29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rPr dirty="0"/>
              <a:t>• </a:t>
            </a:r>
            <a:r>
              <a:rPr dirty="0" err="1"/>
              <a:t>StandardScaler</a:t>
            </a:r>
            <a:r>
              <a:rPr dirty="0"/>
              <a:t> / </a:t>
            </a:r>
            <a:r>
              <a:rPr dirty="0" err="1"/>
              <a:t>MinMaxScaler</a:t>
            </a:r>
            <a:r>
              <a:rPr dirty="0"/>
              <a:t>: Unify feature ranges for consistent ML input</a:t>
            </a:r>
            <a:br>
              <a:rPr dirty="0"/>
            </a:br>
            <a:r>
              <a:rPr dirty="0"/>
              <a:t>• </a:t>
            </a:r>
            <a:r>
              <a:rPr dirty="0" err="1"/>
              <a:t>SimpleImputer</a:t>
            </a:r>
            <a:r>
              <a:rPr dirty="0"/>
              <a:t>: Handle missing values using mean or median strategy</a:t>
            </a:r>
            <a:br>
              <a:rPr dirty="0"/>
            </a:br>
            <a:r>
              <a:rPr dirty="0"/>
              <a:t>• Outlier Removal: Filter anomalous sensor readings using IQR method</a:t>
            </a:r>
            <a:br>
              <a:rPr dirty="0"/>
            </a:br>
            <a:r>
              <a:rPr dirty="0"/>
              <a:t>• Feature Engineering: Create derived metrics (temp-humidity ratio, gas-soil correlation)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67032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Results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29949" y="2632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D399"/>
                </a:solidFill>
                <a:latin typeface="Segoe UI"/>
              </a:defRPr>
            </a:pPr>
            <a:r>
              <a:rPr dirty="0"/>
              <a:t>Performance &amp; Achievements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75781" y="726606"/>
            <a:ext cx="182880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22D3EE"/>
                </a:solidFill>
                <a:latin typeface="Segoe UI"/>
              </a:defRPr>
            </a:pPr>
            <a:r>
              <a:t>📊 Descriptive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Mean, median, mode</a:t>
            </a:r>
            <a:br/>
            <a:r>
              <a:t>Standard deviation, range</a:t>
            </a:r>
            <a:br/>
            <a:r>
              <a:t>Skewness, kurtosis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373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Segoe UI"/>
              </a:defRPr>
            </a:pPr>
            <a:r>
              <a:t>🔥 Correlation Heatmaps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03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Strong correlation between</a:t>
            </a:r>
            <a:br/>
            <a:r>
              <a:t>temperature and humidity</a:t>
            </a:r>
            <a:br/>
            <a:r>
              <a:t>Visual pattern recognition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17373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📈 Cluster Visualization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103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Scatter plots reveal</a:t>
            </a:r>
            <a:br/>
            <a:r>
              <a:t>clear cluster separation</a:t>
            </a:r>
            <a:br/>
            <a:r>
              <a:t>3 distinct groups identified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5661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🤖 Model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319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Silhouette Score ≈ 0.75</a:t>
            </a:r>
            <a:br/>
            <a:r>
              <a:t>Training Time &lt; 1 sec</a:t>
            </a:r>
            <a:br/>
            <a:r>
              <a:t>Testing Time &lt; 0.1 sec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34840" y="35661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🎯 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9319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Random Forest accuracy</a:t>
            </a:r>
            <a:br/>
            <a:r>
              <a:t>High precision &amp; recall</a:t>
            </a:r>
            <a:br/>
            <a:r>
              <a:t>4-class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12080"/>
            <a:ext cx="11277295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3035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D3EE"/>
                </a:solidFill>
                <a:latin typeface="Segoe UI"/>
              </a:defRPr>
            </a:pPr>
            <a:r>
              <a:t>📊 Key Performance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• Silhouette Score: 0.75 (Good clustering quality)    • Training Time: &lt; 1 second    • Testing Time: &lt; 0.1 second</a:t>
            </a:r>
            <a:br/>
            <a:r>
              <a:t>• Dataset Size: 100k+ records processed    • Features: 7 sensor dimensions    • Model Types: KMeans + Random Forest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923C"/>
                </a:solidFill>
                <a:latin typeface="Segoe UI"/>
              </a:defRPr>
            </a:pPr>
            <a:r>
              <a:t>Enhancements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737360"/>
            <a:ext cx="320040" cy="32004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2880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Segoe UI"/>
              </a:defRPr>
            </a:pPr>
            <a:r>
              <a:t>🔥 Apache 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Distributed Big Data processing</a:t>
            </a:r>
            <a:br/>
            <a:r>
              <a:t>for handling millions of records</a:t>
            </a:r>
            <a:br/>
            <a:r>
              <a:t>Scalable cluster computing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434840" y="1737360"/>
            <a:ext cx="320040" cy="32004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73736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737360"/>
            <a:ext cx="2880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🧠 Deep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03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AI Predictive Automation</a:t>
            </a:r>
            <a:br/>
            <a:r>
              <a:t>using neural networks</a:t>
            </a:r>
            <a:br/>
            <a:r>
              <a:t>LSTM for time-series prediction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459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75320" y="1737360"/>
            <a:ext cx="320040" cy="32004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737360"/>
            <a:ext cx="2880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22D3EE"/>
                </a:solidFill>
                <a:latin typeface="Segoe UI"/>
              </a:defRPr>
            </a:pPr>
            <a:r>
              <a:t>🎙️ Voice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03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Natural language commands</a:t>
            </a:r>
            <a:br/>
            <a:r>
              <a:t>Integration with Alexa/Google</a:t>
            </a:r>
            <a:br/>
            <a:r>
              <a:t>Hands-free operation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4360" y="3566160"/>
            <a:ext cx="320040" cy="3200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56616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566160"/>
            <a:ext cx="2880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👁️ Computer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9319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Camera-based recognition</a:t>
            </a:r>
            <a:br/>
            <a:r>
              <a:t>Enhanced security &amp; automation</a:t>
            </a:r>
            <a:br/>
            <a:r>
              <a:t>Object detection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474720"/>
            <a:ext cx="356616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434840" y="3566160"/>
            <a:ext cx="320040" cy="3200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56616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566160"/>
            <a:ext cx="2880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🎨 UI/UX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9319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>
                <a:solidFill>
                  <a:srgbClr val="CBD5E1"/>
                </a:solidFill>
                <a:latin typeface="Segoe UI"/>
              </a:defRPr>
            </a:pPr>
            <a:r>
              <a:t>Improved mobile and web platforms</a:t>
            </a:r>
            <a:br/>
            <a:r>
              <a:t>Better visualizations</a:t>
            </a:r>
            <a:br/>
            <a:r>
              <a:t>Responsive design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212080"/>
            <a:ext cx="11277295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>
                <a:solidFill>
                  <a:srgbClr val="22D3EE"/>
                </a:solidFill>
                <a:latin typeface="Segoe UI"/>
              </a:defRPr>
            </a:pPr>
            <a:r>
              <a:t>🌟 Future Vision: Building a fully autonomous smart home ecosystem with distributed Big Data processing,</a:t>
            </a:r>
            <a:br/>
            <a:r>
              <a:t>self-learning AI models, and seamless multi-modal interaction (voice, vision, touch)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87171"/>
                </a:solidFill>
                <a:latin typeface="Segoe UI"/>
              </a:defRPr>
            </a:pPr>
            <a:r>
              <a:t>Technical &amp; Operational Hurdles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  <a:latin typeface="Segoe UI"/>
              </a:defRPr>
            </a:pPr>
            <a:r>
              <a:t>📶 WiFi Connectivity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Maintaining stable data synchronization</a:t>
            </a:r>
            <a:br/>
            <a:r>
              <a:t>between ESP32 and cloud services</a:t>
            </a:r>
            <a:br/>
            <a:r>
              <a:t>Network fluctuations cause delays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486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Segoe UI"/>
              </a:defRPr>
            </a:pPr>
            <a:r>
              <a:t>🔧 Sensor Calibration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Ensuring accurate readings from sensors</a:t>
            </a:r>
            <a:br/>
            <a:r>
              <a:t>Noise filtering and signal processing</a:t>
            </a:r>
            <a:br/>
            <a:r>
              <a:t>Environmental condition variations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657600"/>
            <a:ext cx="5486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D3EE"/>
                </a:solidFill>
                <a:latin typeface="Segoe UI"/>
              </a:defRPr>
            </a:pPr>
            <a:r>
              <a:t>📊 Large-Scale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Handling 100k+ records efficiently</a:t>
            </a:r>
            <a:br/>
            <a:r>
              <a:t>Memory management and processing speed</a:t>
            </a:r>
            <a:br/>
            <a:r>
              <a:t>Real-time analytics requirements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486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37947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🔗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Complexity between IoT hardware</a:t>
            </a:r>
            <a:br/>
            <a:r>
              <a:t>and Big Data tools</a:t>
            </a:r>
            <a:br/>
            <a:r>
              <a:t>Multiple technology stacks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Project Life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8BDF8"/>
                </a:solidFill>
                <a:latin typeface="Segoe UI"/>
              </a:defRPr>
            </a:pPr>
            <a:r>
              <a:t>Development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645920" y="2286000"/>
            <a:ext cx="82296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57200" y="1828800"/>
            <a:ext cx="1097280" cy="10972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1089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Requirement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7472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CBD5E1"/>
                </a:solidFill>
                <a:latin typeface="Segoe UI"/>
              </a:defRPr>
            </a:pPr>
            <a:r>
              <a:t>Identify user needs,</a:t>
            </a:r>
            <a:br/>
            <a:r>
              <a:t>functional &amp; non-functional</a:t>
            </a:r>
            <a:br/>
            <a:r>
              <a:t>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286000"/>
            <a:ext cx="82296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77440" y="1828800"/>
            <a:ext cx="1097280" cy="10972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7744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089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47472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CBD5E1"/>
                </a:solidFill>
                <a:latin typeface="Segoe UI"/>
              </a:defRPr>
            </a:pPr>
            <a:r>
              <a:t>Create 3-layer architecture,</a:t>
            </a:r>
            <a:br/>
            <a:r>
              <a:t>database schema,</a:t>
            </a:r>
            <a:br/>
            <a:r>
              <a:t>&amp; UI design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286000"/>
            <a:ext cx="82296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297680" y="1828800"/>
            <a:ext cx="1097280" cy="10972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1089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7472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CBD5E1"/>
                </a:solidFill>
                <a:latin typeface="Segoe UI"/>
              </a:defRPr>
            </a:pPr>
            <a:r>
              <a:t>Program ESP32, Python ML,</a:t>
            </a:r>
            <a:br/>
            <a:r>
              <a:t>&amp; Gradio interface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286000"/>
            <a:ext cx="82296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217920" y="1828800"/>
            <a:ext cx="1097280" cy="10972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31089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47472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CBD5E1"/>
                </a:solidFill>
                <a:latin typeface="Segoe UI"/>
              </a:defRPr>
            </a:pPr>
            <a:r>
              <a:t>Verify sensor accuracy,</a:t>
            </a:r>
            <a:br/>
            <a:r>
              <a:t>ML model performance,</a:t>
            </a:r>
            <a:br/>
            <a:r>
              <a:t>&amp; app responsiveness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2286000"/>
            <a:ext cx="82296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138160" y="1828800"/>
            <a:ext cx="1097280" cy="10972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3816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31089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347472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CBD5E1"/>
                </a:solidFill>
                <a:latin typeface="Segoe UI"/>
              </a:defRPr>
            </a:pPr>
            <a:r>
              <a:t>Deploy in real environment,</a:t>
            </a:r>
            <a:br/>
            <a:r>
              <a:t>connect to cloud,</a:t>
            </a:r>
            <a:br/>
            <a:r>
              <a:t>&amp; enable user access</a:t>
            </a:r>
          </a:p>
        </p:txBody>
      </p:sp>
      <p:sp>
        <p:nvSpPr>
          <p:cNvPr id="31" name="Oval 30"/>
          <p:cNvSpPr/>
          <p:nvPr/>
        </p:nvSpPr>
        <p:spPr>
          <a:xfrm>
            <a:off x="10058400" y="1828800"/>
            <a:ext cx="1097280" cy="10972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5840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31089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Maintenance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47472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>
                <a:solidFill>
                  <a:srgbClr val="CBD5E1"/>
                </a:solidFill>
                <a:latin typeface="Segoe UI"/>
              </a:defRPr>
            </a:pPr>
            <a:r>
              <a:t>Continuous monitoring,</a:t>
            </a:r>
            <a:br/>
            <a:r>
              <a:t>bug fixing, &amp;</a:t>
            </a:r>
            <a:br/>
            <a:r>
              <a:t>adding new features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754880"/>
            <a:ext cx="112772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8463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📋 Methodology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66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The team followed a structured methodology to ensure systematic progress and high quality:</a:t>
            </a:r>
            <a:br/>
            <a:r>
              <a:t>• Agile Approach: Short iterations with continuous reviews    • Version Control: Git for code management</a:t>
            </a:r>
            <a:br/>
            <a:r>
              <a:t>• Testing-Driven: Continuous testing at every stage    • Documentation: Comprehensive documentation for all components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D399"/>
                </a:solidFill>
                <a:latin typeface="Segoe UI"/>
              </a:defRPr>
            </a:pPr>
            <a: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82880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6858000" cy="4579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500">
                <a:solidFill>
                  <a:srgbClr val="CBD5E1"/>
                </a:solidFill>
                <a:latin typeface="Segoe UI"/>
              </a:defRPr>
            </a:pPr>
            <a:r>
              <a:rPr dirty="0"/>
              <a:t>The Big Data IoT AI System demonstrates how large-scale analytics</a:t>
            </a:r>
            <a:br>
              <a:rPr dirty="0"/>
            </a:br>
            <a:r>
              <a:rPr dirty="0"/>
              <a:t>combined with IoT can enhance safety, efficiency, and comfort.</a:t>
            </a:r>
            <a:br>
              <a:rPr dirty="0"/>
            </a:br>
            <a:br>
              <a:rPr dirty="0"/>
            </a:br>
            <a:r>
              <a:rPr dirty="0"/>
              <a:t>By integrating hardware, cloud, and machine learning, the system achieves:</a:t>
            </a:r>
            <a:br>
              <a:rPr dirty="0"/>
            </a:br>
            <a:r>
              <a:rPr dirty="0"/>
              <a:t>• Real-time automation    • Predictive control    • Anomaly detection</a:t>
            </a:r>
            <a:br>
              <a:rPr lang="en-US" dirty="0"/>
            </a:br>
            <a:br>
              <a:rPr dirty="0"/>
            </a:br>
            <a:r>
              <a:rPr dirty="0"/>
              <a:t>The system successfully:</a:t>
            </a:r>
            <a:br>
              <a:rPr dirty="0"/>
            </a:br>
            <a:r>
              <a:rPr dirty="0"/>
              <a:t>• Processes 100k+ sensor records</a:t>
            </a:r>
            <a:br>
              <a:rPr dirty="0"/>
            </a:br>
            <a:r>
              <a:rPr dirty="0"/>
              <a:t>• Applies </a:t>
            </a:r>
            <a:r>
              <a:rPr dirty="0" err="1"/>
              <a:t>KMeans</a:t>
            </a:r>
            <a:r>
              <a:rPr dirty="0"/>
              <a:t> clustering with Silhouette Score ≈ 0.75</a:t>
            </a:r>
            <a:br>
              <a:rPr dirty="0"/>
            </a:br>
            <a:r>
              <a:rPr dirty="0"/>
              <a:t>• Classifies alerts using Random Forest</a:t>
            </a:r>
            <a:br>
              <a:rPr dirty="0"/>
            </a:br>
            <a:r>
              <a:rPr dirty="0"/>
              <a:t>• Provides instant predictions via </a:t>
            </a:r>
            <a:r>
              <a:rPr dirty="0" err="1"/>
              <a:t>Gradio</a:t>
            </a:r>
            <a:r>
              <a:rPr dirty="0"/>
              <a:t> interface</a:t>
            </a:r>
            <a:br>
              <a:rPr dirty="0"/>
            </a:br>
            <a:br>
              <a:rPr dirty="0"/>
            </a:br>
            <a:r>
              <a:rPr dirty="0"/>
              <a:t>This makes the system scalable, data-driven, and future-ready</a:t>
            </a:r>
            <a:br>
              <a:rPr dirty="0"/>
            </a:br>
            <a:r>
              <a:rPr dirty="0"/>
              <a:t>for modern smart home environments.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55448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Segoe UI"/>
              </a:defRPr>
            </a:pPr>
            <a:r>
              <a:t>🏆 Key Achievements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BD5E1"/>
                </a:solidFill>
                <a:latin typeface="Segoe UI"/>
              </a:defRPr>
            </a:pPr>
            <a:r>
              <a:t>✓ 100k+ records processed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7744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BD5E1"/>
                </a:solidFill>
                <a:latin typeface="Segoe UI"/>
              </a:defRPr>
            </a:pPr>
            <a:r>
              <a:t>✓ KMeans + Random Forest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BD5E1"/>
                </a:solidFill>
                <a:latin typeface="Segoe UI"/>
              </a:defRPr>
            </a:pPr>
            <a:r>
              <a:t>✓ Silhouette Score 0.75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10896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BD5E1"/>
                </a:solidFill>
                <a:latin typeface="Segoe UI"/>
              </a:defRPr>
            </a:pPr>
            <a:r>
              <a:t>✓ &lt; 1 sec training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7472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BD5E1"/>
                </a:solidFill>
                <a:latin typeface="Segoe UI"/>
              </a:defRPr>
            </a:pPr>
            <a:r>
              <a:t>✓ Real-time predictions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84048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BD5E1"/>
                </a:solidFill>
                <a:latin typeface="Segoe UI"/>
              </a:defRPr>
            </a:pPr>
            <a:r>
              <a:t>✓ Gradio + Flutter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29200"/>
            <a:ext cx="1127729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A78BFA"/>
                </a:solidFill>
                <a:latin typeface="Segoe UI"/>
              </a:defRPr>
            </a:pPr>
            <a:r>
              <a:t>"The future of smart homes lies not just in connectivity, but in intelligence —</a:t>
            </a:r>
            <a:br/>
            <a:r>
              <a:t>where data drives decisions, and automation anticipates needs before they arise.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References &amp; Acknowledgment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76895" y="2541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22D3EE"/>
                </a:solidFill>
                <a:latin typeface="Segoe UI"/>
              </a:defRPr>
            </a:pPr>
            <a:r>
              <a:t>Sources &amp; Gratitude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8195188" y="660400"/>
            <a:ext cx="182880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Segoe UI"/>
              </a:defRPr>
            </a:pPr>
            <a:r>
              <a:t>📚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• Supabase Documentation - supabase.com/docs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• Scikit-learn Documentation - scikit-learn.org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• Pandas &amp; NumPy Libraries - pandas.pydata.org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0896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• MQTT Protocol Specification - mqtt.org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• IoT Security Best Practices - NIST Guidelines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CBD5E1"/>
                </a:solidFill>
                <a:latin typeface="Segoe UI"/>
              </a:defRPr>
            </a:pPr>
            <a:r>
              <a:t>• Gradio Documentation - gradio.app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Segoe UI"/>
              </a:defRPr>
            </a:pPr>
            <a:r>
              <a:t>🙏 Acknowledgment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011680"/>
            <a:ext cx="530352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194560"/>
            <a:ext cx="4937760" cy="186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>
                <a:solidFill>
                  <a:srgbClr val="CBD5E1"/>
                </a:solidFill>
                <a:latin typeface="Segoe UI"/>
              </a:defRPr>
            </a:pPr>
            <a:r>
              <a:rPr dirty="0"/>
              <a:t>Special thanks to</a:t>
            </a:r>
            <a:r>
              <a:rPr lang="en-US" dirty="0"/>
              <a:t> </a:t>
            </a:r>
            <a:r>
              <a:rPr dirty="0"/>
              <a:t>Dr. Asmaa Saad</a:t>
            </a:r>
            <a:br>
              <a:rPr dirty="0"/>
            </a:br>
            <a:r>
              <a:rPr dirty="0"/>
              <a:t>for her continuous guidance, valuable feedback,</a:t>
            </a:r>
            <a:br>
              <a:rPr dirty="0"/>
            </a:br>
            <a:r>
              <a:rPr dirty="0"/>
              <a:t>and encouragement throughout this project.</a:t>
            </a:r>
            <a:br>
              <a:rPr dirty="0"/>
            </a:br>
            <a:br>
              <a:rPr dirty="0"/>
            </a:br>
            <a:r>
              <a:rPr dirty="0"/>
              <a:t>Her expertise was essential in shaping the concept</a:t>
            </a:r>
            <a:br>
              <a:rPr dirty="0"/>
            </a:br>
            <a:r>
              <a:rPr dirty="0"/>
              <a:t>and ensuring successful implementation.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46320"/>
            <a:ext cx="11277295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9377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👥 Project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300">
                <a:solidFill>
                  <a:srgbClr val="CBD5E1"/>
                </a:solidFill>
                <a:latin typeface="Segoe UI"/>
              </a:defRPr>
            </a:pPr>
            <a:r>
              <a:t>Mostafa Elsayed Khodary  •  Mostafa Ahmed Sabry  •  Youssef Elboraey  •  Mohamed Abdo</a:t>
            </a:r>
            <a:br/>
            <a:r>
              <a:t>Layla Mostafa  •  Nora Osama  •  Nada Ashraf  •  Manar Montaser</a:t>
            </a:r>
            <a:br/>
            <a:br/>
            <a:r>
              <a:t>Academic Year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21424"/>
            <a:ext cx="12191695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9" y="19456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78BFA"/>
                </a:solidFill>
                <a:latin typeface="Segoe UI"/>
              </a:defRPr>
            </a:pPr>
            <a:r>
              <a:rPr dirty="0"/>
              <a:t>For Your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668295"/>
            <a:ext cx="2133295" cy="25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251479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1600">
                <a:solidFill>
                  <a:srgbClr val="CBD5E1"/>
                </a:solidFill>
                <a:latin typeface="Segoe UI"/>
              </a:defRPr>
            </a:pPr>
            <a:r>
              <a:rPr dirty="0"/>
              <a:t>Big Data IoT AI System — Intelligent Smart Home Analytics</a:t>
            </a:r>
            <a:br>
              <a:rPr dirty="0"/>
            </a:br>
            <a:r>
              <a:rPr dirty="0"/>
              <a:t>Integrating Big Data Analytics with IoT for Predictive Automation</a:t>
            </a:r>
            <a:br>
              <a:rPr dirty="0"/>
            </a:br>
            <a:br>
              <a:rPr dirty="0"/>
            </a:br>
            <a:r>
              <a:rPr dirty="0"/>
              <a:t>Supervised by: Dr. Asmaa Saad  |  Academic Year 2025-2026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5669280"/>
            <a:ext cx="3962095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0" y="5806440"/>
            <a:ext cx="3962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❓ Questions &amp; Discussion 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2201</Words>
  <Application>Microsoft Office PowerPoint</Application>
  <PresentationFormat>Widescreen</PresentationFormat>
  <Paragraphs>256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Mostafa Ahmed Sabry</dc:creator>
  <cp:keywords/>
  <dc:description>generated using python-pptx</dc:description>
  <cp:lastModifiedBy>1223453</cp:lastModifiedBy>
  <cp:revision>4</cp:revision>
  <dcterms:created xsi:type="dcterms:W3CDTF">2013-01-27T09:14:16Z</dcterms:created>
  <dcterms:modified xsi:type="dcterms:W3CDTF">2026-05-16T21:48:50Z</dcterms:modified>
  <cp:category/>
</cp:coreProperties>
</file>