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Smart Home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2D3EE"/>
                </a:solidFill>
                <a:latin typeface="Segoe UI"/>
              </a:defRPr>
            </a:pPr>
            <a:r>
              <a:t>Internet of Things (IoT) Based Smart Living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3329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CBD5E1"/>
                </a:solidFill>
                <a:latin typeface="Segoe UI"/>
              </a:defRPr>
            </a:pPr>
            <a:r>
              <a:t>A comprehensive intelligent home management system using IoT</a:t>
            </a:r>
            <a:br/>
            <a:r>
              <a:t>Featuring complete environmental monitoring, device automation, and remote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846320"/>
            <a:ext cx="761969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4937760"/>
            <a:ext cx="7619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38BDF8"/>
                </a:solidFill>
                <a:latin typeface="Segoe UI"/>
              </a:defRPr>
            </a:pPr>
            <a:r>
              <a:t>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21208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Mostafa Elsayed • Mostafa Ahmed • Youssef Elboraey • Ahmed Hesham</a:t>
            </a:r>
            <a:br/>
            <a:r>
              <a:t>Mohamed Abdo • Osama Hany • Layla Mostafa • Nora Osama • Nada Ashraf • Manar Montaser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300">
                <a:solidFill>
                  <a:srgbClr val="94A3B8"/>
                </a:solidFill>
                <a:latin typeface="Segoe UI"/>
              </a:defRPr>
            </a:pPr>
            <a:r>
              <a:t>Supervised by: Dr. Samia Sorour  |  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8BDF8"/>
                </a:solidFill>
                <a:latin typeface="Segoe UI"/>
              </a:defRPr>
            </a:pPr>
            <a: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D3EE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Background, Problem Statement, Motivation, Objectives,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Related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Previous Systems &amp; Comparative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D399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System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User Requirements, Functional &amp; Non-Functional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B923C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Architecture, Database, UML, UI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7171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Technologies, Modules, Core Algorithms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40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D3EE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40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Results &amp;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14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Performance Metrics, Future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37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Challenges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Technical &amp; Operational Challenges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D399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37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Project Life 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Development Process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Executive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22D3EE"/>
                </a:solidFill>
                <a:latin typeface="Segoe UI"/>
              </a:defRPr>
            </a:pPr>
            <a:r>
              <a:t>Project Overview &amp; 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500">
                <a:solidFill>
                  <a:srgbClr val="CBD5E1"/>
                </a:solidFill>
                <a:latin typeface="Segoe UI"/>
              </a:defRPr>
            </a:pPr>
            <a:r>
              <a:t>This project presents a comprehensive Smart Home IoT system integrating six core sensors:</a:t>
            </a:r>
            <a:br/>
            <a:r>
              <a:t>• DHT11 for Temperature &amp; Humidity monitoring</a:t>
            </a:r>
            <a:br/>
            <a:r>
              <a:t>• MQ2 for Gas detection (Smoke, Propane, LPG)</a:t>
            </a:r>
            <a:br/>
            <a:r>
              <a:t>• Soil Moisture Sensor for Smart Irrigation</a:t>
            </a:r>
            <a:br/>
            <a:r>
              <a:t>• Rain Sensor for rainfall detection</a:t>
            </a:r>
            <a:br/>
            <a:r>
              <a:t>• PIR for Motion detection</a:t>
            </a:r>
            <a:br/>
            <a:r>
              <a:t>• Ultrasonic for Distance measurement</a:t>
            </a:r>
            <a:br/>
            <a:br/>
            <a:r>
              <a:t>Arduino collects sensor data while ESP32 serves as the central controller,</a:t>
            </a:r>
            <a:br/>
            <a:r>
              <a:t>managing high-voltage devices through Relay Module (220V).</a:t>
            </a:r>
            <a:br/>
            <a:br/>
            <a:r>
              <a:t>The system features Supabase as a secure cloud backend with Row Level Security (RLS),</a:t>
            </a:r>
            <a:br/>
            <a:r>
              <a:t>and a Flutter mobile app for remote monitoring, control, and instant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40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6459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🛡️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9202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Gas leak detection</a:t>
            </a:r>
            <a:br/>
            <a:r>
              <a:t>&amp; unauthorized motion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743200"/>
            <a:ext cx="3840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⚡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1089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Smart irrigation</a:t>
            </a:r>
            <a:br/>
            <a:r>
              <a:t>&amp; energy optimization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931920"/>
            <a:ext cx="3840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40233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🎯 Comfort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2976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Automated climate</a:t>
            </a:r>
            <a:br/>
            <a:r>
              <a:t>&amp; lighting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5120640"/>
            <a:ext cx="3840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5212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📊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486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Foundation for Big Data</a:t>
            </a:r>
            <a:br/>
            <a:r>
              <a:t>&amp; predictive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8BDF8"/>
                </a:solidFill>
                <a:latin typeface="Segoe UI"/>
              </a:defRPr>
            </a:pPr>
            <a:r>
              <a:t>Background &amp;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500">
                <a:solidFill>
                  <a:srgbClr val="CBD5E1"/>
                </a:solidFill>
                <a:latin typeface="Segoe UI"/>
              </a:defRPr>
            </a:pPr>
            <a:r>
              <a:t>The rapid growth of Internet of Things (IoT) has transformed traditional living spaces</a:t>
            </a:r>
            <a:br/>
            <a:r>
              <a:t>into intelligent environments where devices communicate seamlessly through the internet.</a:t>
            </a:r>
            <a:br/>
            <a:br/>
            <a:r>
              <a:t>Smart homes represent one of the most impactful IoT applications, offering:</a:t>
            </a:r>
            <a:br/>
            <a:r>
              <a:t>• Home appliance automation</a:t>
            </a:r>
            <a:br/>
            <a:r>
              <a:t>• Advanced environmental monitoring</a:t>
            </a:r>
            <a:br/>
            <a:r>
              <a:t>• Remote access and intelligent control</a:t>
            </a:r>
            <a:br/>
            <a:br/>
            <a:r>
              <a:t>This project designs a Smart Home IoT System integrating:</a:t>
            </a:r>
            <a:br/>
            <a:r>
              <a:t>Arduino for sensor data acquisition + ESP32 as central controller</a:t>
            </a:r>
            <a:br/>
            <a:r>
              <a:t>+ Supabase for secure cloud storage and real-time synchronization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411480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22D3EE"/>
                </a:solidFill>
                <a:latin typeface="Segoe UI"/>
              </a:defRPr>
            </a:pPr>
            <a:r>
              <a:t>50B+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0574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IoT Devices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33172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Expected by 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926080"/>
            <a:ext cx="411480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30175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4D399"/>
                </a:solidFill>
                <a:latin typeface="Segoe UI"/>
              </a:defRPr>
            </a:pPr>
            <a:r>
              <a:t>350M+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4290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Smart Homes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70332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Active globally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297680"/>
            <a:ext cx="411480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43891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B923C"/>
                </a:solidFill>
                <a:latin typeface="Segoe UI"/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8006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Energy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07492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With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4039" y="4495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87171"/>
                </a:solidFill>
                <a:latin typeface="Segoe UI"/>
              </a:defRPr>
            </a:pPr>
            <a:r>
              <a:rPr dirty="0"/>
              <a:t>Challenges We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t>❌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Manual control of home devices is inefficient and prone to human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Traditional irrigation methods waste significant water due to lack of soil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Energy consumption is not optimized, leading to unnecessary costs and environmental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Safety risks such as gas leaks or unauthorized motion often go unnoticed without automated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✅ 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Automate home appliances using sensor-driven logic and relay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Monitor soil moisture and rainfall to enable smart irrigation and water conservation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Enable remote control through a Flutter mobile application connected to 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Enhance safety by detecting gas leaks and unauthorized motion with instant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▸  Reduce human effort while improving energy efficiency through intelligent decision-making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1127729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💡 Motivation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Bridging the gap between conventional smart home systems and data-driven intelligent environments.</a:t>
            </a:r>
            <a:br/>
            <a:r>
              <a:t>By integrating IoT hardware with Supabase and applying Big Data analytics, the system moves beyond simple</a:t>
            </a:r>
            <a:br/>
            <a:r>
              <a:t>automation to predictive control and anomaly detection, ensuring proactive responses to environmental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22D3EE"/>
                </a:solidFill>
                <a:latin typeface="Segoe UI"/>
              </a:defRPr>
            </a:pPr>
            <a:r>
              <a:t>Three-Layer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5760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🟦 Layer 1: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Hardware Layer (Arduino + ESP32)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Arduino: Data collection from 6 sensors</a:t>
            </a:r>
            <a:br/>
            <a:r>
              <a:t>• ESP32: Central controller + WiFi</a:t>
            </a:r>
            <a:br/>
            <a:r>
              <a:t>• Relay Module: 220V device control</a:t>
            </a:r>
            <a:br/>
            <a:r>
              <a:t>• Servo Motors: Door/window 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45920"/>
            <a:ext cx="365760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7830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🟩 Layer 2: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031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Cloud Layer (Supabase + MQTT)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774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MQTT Broker (HiveMQ): Lightweight protocol</a:t>
            </a:r>
            <a:br/>
            <a:r>
              <a:t>• Supabase: Authentication + Secure storage</a:t>
            </a:r>
            <a:br/>
            <a:r>
              <a:t>• Row Level Security (RLS): Data protection</a:t>
            </a:r>
            <a:br/>
            <a:r>
              <a:t>• Real-time Sync: Instant synchronization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65760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39" y="17830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🟧 Layer 3: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21031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Application Layer (Flutter)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3774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Dashboard: Real-time sensor monitoring</a:t>
            </a:r>
            <a:br/>
            <a:r>
              <a:t>• Control Panel: Manual device control</a:t>
            </a:r>
            <a:br/>
            <a:r>
              <a:t>• Notifications: Instant alerts</a:t>
            </a:r>
            <a:br/>
            <a:r>
              <a:t>• Big Data: Historical data 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77295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🔄 Integration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18674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rPr dirty="0"/>
              <a:t>Sensors → Arduino → ESP32 (Data Acquisition)</a:t>
            </a:r>
            <a:br>
              <a:rPr dirty="0"/>
            </a:br>
            <a:r>
              <a:rPr dirty="0"/>
              <a:t>ESP32 → MQTT Broker → </a:t>
            </a:r>
            <a:r>
              <a:rPr dirty="0" err="1"/>
              <a:t>Supabase</a:t>
            </a:r>
            <a:r>
              <a:rPr dirty="0"/>
              <a:t> (Data Transmission &amp; Storage)</a:t>
            </a:r>
            <a:br>
              <a:rPr dirty="0"/>
            </a:br>
            <a:r>
              <a:rPr dirty="0" err="1"/>
              <a:t>Supabase</a:t>
            </a:r>
            <a:r>
              <a:rPr dirty="0"/>
              <a:t> → Flutter App (Real-time Monitoring &amp; Control)</a:t>
            </a:r>
            <a:br>
              <a:rPr dirty="0"/>
            </a:br>
            <a:r>
              <a:rPr dirty="0"/>
              <a:t>User Commands → Flutter App → MQTT → ESP32 → Relays/Servos (Device Actuation)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Hardware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8BDF8"/>
                </a:solidFill>
                <a:latin typeface="Segoe UI"/>
              </a:defRPr>
            </a:pPr>
            <a:r>
              <a:t>Arduino + ESP32 + Sensors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4747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🌡️ DHT11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400">
                <a:solidFill>
                  <a:srgbClr val="FFFFFF"/>
                </a:solidFill>
                <a:latin typeface="Segoe UI"/>
              </a:defRPr>
            </a:pPr>
            <a:r>
              <a:t>Temperature</a:t>
            </a:r>
            <a:br/>
            <a:r>
              <a:t>&amp; Humidity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Environmental</a:t>
            </a:r>
            <a:br/>
            <a:r>
              <a:t>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45920"/>
            <a:ext cx="34747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737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💨 MQ2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57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400">
                <a:solidFill>
                  <a:srgbClr val="FFFFFF"/>
                </a:solidFill>
                <a:latin typeface="Segoe UI"/>
              </a:defRPr>
            </a:pPr>
            <a:r>
              <a:t>Gas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14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Smoke, LPG</a:t>
            </a:r>
            <a:br/>
            <a:r>
              <a:t>Propane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4747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39" y="1737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🌱 Soil Moisture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2057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400">
                <a:solidFill>
                  <a:srgbClr val="FFFFFF"/>
                </a:solidFill>
                <a:latin typeface="Segoe UI"/>
              </a:defRPr>
            </a:pPr>
            <a:r>
              <a:t>Soil Moisture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514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Smart irrigation</a:t>
            </a:r>
            <a:br/>
            <a:r>
              <a:t>&amp; water saving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91840"/>
            <a:ext cx="34747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383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🌧️ Rain Sensor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03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400">
                <a:solidFill>
                  <a:srgbClr val="FFFFFF"/>
                </a:solidFill>
                <a:latin typeface="Segoe UI"/>
              </a:defRPr>
            </a:pPr>
            <a:r>
              <a:t>Rain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160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Detect rainfall</a:t>
            </a:r>
            <a:br/>
            <a:r>
              <a:t>&amp; weather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291840"/>
            <a:ext cx="34747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3383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👁️ PIR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703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400">
                <a:solidFill>
                  <a:srgbClr val="FFFFFF"/>
                </a:solidFill>
                <a:latin typeface="Segoe UI"/>
              </a:defRPr>
            </a:pPr>
            <a:r>
              <a:t>Motion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60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Security</a:t>
            </a:r>
            <a:br/>
            <a:r>
              <a:t>&amp; surveillance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291840"/>
            <a:ext cx="34747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39" y="3383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📏 Ultrasonic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39" y="3703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400">
                <a:solidFill>
                  <a:srgbClr val="FFFFFF"/>
                </a:solidFill>
                <a:latin typeface="Segoe UI"/>
              </a:defRPr>
            </a:pPr>
            <a:r>
              <a:t>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39" y="4160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Security</a:t>
            </a:r>
            <a:br/>
            <a:r>
              <a:t>&amp; level monitoring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37760"/>
            <a:ext cx="11277295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⚡ Central Controller - ESP32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029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rPr dirty="0"/>
              <a:t>• Receives sensor data from Arduino via Serial Communication</a:t>
            </a:r>
            <a:br>
              <a:rPr dirty="0"/>
            </a:br>
            <a:r>
              <a:rPr dirty="0"/>
              <a:t>• Controls high-voltage devices (Lamp, Fan, Pump, Buzzer) via Relay Module 220V</a:t>
            </a:r>
            <a:br>
              <a:rPr dirty="0"/>
            </a:br>
            <a:r>
              <a:rPr dirty="0"/>
              <a:t>• Operates Servo Motors for door and window automation</a:t>
            </a:r>
            <a:br>
              <a:rPr dirty="0"/>
            </a:br>
            <a:r>
              <a:rPr dirty="0"/>
              <a:t>• Provides </a:t>
            </a:r>
            <a:r>
              <a:rPr dirty="0" err="1"/>
              <a:t>WiFi</a:t>
            </a:r>
            <a:r>
              <a:rPr dirty="0"/>
              <a:t> connectivity and communicates with cloud via MQTT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Cloud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D399"/>
                </a:solidFill>
                <a:latin typeface="Segoe UI"/>
              </a:defRPr>
            </a:pPr>
            <a:r>
              <a:t>Supabase + MQTT Broker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3383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71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Segoe UI"/>
              </a:defRPr>
            </a:pPr>
            <a:r>
              <a:rPr dirty="0"/>
              <a:t>📡 MQTT Broker (</a:t>
            </a:r>
            <a:r>
              <a:rPr dirty="0" err="1"/>
              <a:t>HiveMQ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937760" cy="2580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rPr dirty="0"/>
              <a:t>Lightweight Publish/Subscribe Protocol for IoT</a:t>
            </a:r>
            <a:br>
              <a:rPr dirty="0"/>
            </a:br>
            <a:br>
              <a:rPr dirty="0"/>
            </a:br>
            <a:r>
              <a:rPr dirty="0"/>
              <a:t>• ESP32 publishes sensor data to:</a:t>
            </a:r>
            <a:br>
              <a:rPr dirty="0"/>
            </a:br>
            <a:r>
              <a:rPr dirty="0"/>
              <a:t>  home/sensors/data</a:t>
            </a:r>
            <a:br>
              <a:rPr dirty="0"/>
            </a:br>
            <a:r>
              <a:rPr dirty="0"/>
              <a:t>• Mobile app subscribes to topics for real-time updates</a:t>
            </a:r>
            <a:br>
              <a:rPr dirty="0"/>
            </a:br>
            <a:r>
              <a:rPr dirty="0"/>
              <a:t>• Control commands sent from app:</a:t>
            </a:r>
            <a:br>
              <a:rPr dirty="0"/>
            </a:br>
            <a:r>
              <a:rPr dirty="0"/>
              <a:t>  home/control/lamp</a:t>
            </a:r>
            <a:br>
              <a:rPr dirty="0"/>
            </a:br>
            <a:r>
              <a:rPr dirty="0"/>
              <a:t>  home/control/pump</a:t>
            </a:r>
            <a:br>
              <a:rPr dirty="0"/>
            </a:br>
            <a:r>
              <a:rPr dirty="0"/>
              <a:t>  home/control/fan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3035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🗄️ Supabase (PostgreSQL)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Open-source Cloud Platform</a:t>
            </a:r>
            <a:br/>
            <a:br/>
            <a:r>
              <a:t>• Secure Authentication (login/signup)</a:t>
            </a:r>
            <a:br/>
            <a:r>
              <a:t>• Structured data storage in tables</a:t>
            </a:r>
            <a:br/>
            <a:r>
              <a:t>• Row Level Security (RLS) for data protection</a:t>
            </a:r>
            <a:br/>
            <a:r>
              <a:t>• Real-time synchronization between devices and app</a:t>
            </a:r>
            <a:br/>
            <a:r>
              <a:t>• Scalable database for Big Data analytics</a:t>
            </a:r>
            <a:br/>
            <a:r>
              <a:t>• Pattern recognition &amp; anomaly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032" y="4937760"/>
            <a:ext cx="11277295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📊 Database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iot_data — Stores sensor telemetry (temperature, humidity, gas, soil, rain, motion, distance)</a:t>
            </a:r>
            <a:br/>
            <a:r>
              <a:t>iot_control — Stores device states (lamp, pump, fan, window, door)</a:t>
            </a:r>
            <a:br/>
            <a:r>
              <a:t>control_analysis — AI-generated insights and alerts from sensor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Application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2103" y="4590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B923C"/>
                </a:solidFill>
                <a:latin typeface="Segoe UI"/>
              </a:defRPr>
            </a:pPr>
            <a:r>
              <a:t>Flutter Mobile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6840" y="854136"/>
            <a:ext cx="18288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Segoe UI"/>
              </a:defRPr>
            </a:pPr>
            <a:r>
              <a:t>📱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Main Monitoring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Real-time sensor readings display</a:t>
            </a:r>
            <a:br/>
            <a:r>
              <a:t>Temperature, Gas, Soil, Rain, Motion, Distance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🎛️ Control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Device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Manual control of devices</a:t>
            </a:r>
            <a:br/>
            <a:r>
              <a:t>Lamp, Pump, Fan, Door, 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661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Segoe UI"/>
              </a:defRPr>
            </a:pPr>
            <a:r>
              <a:t>🔔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Alerts &amp; Warnings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Instant alerts for abnormal conditions</a:t>
            </a:r>
            <a:br/>
            <a:r>
              <a:t>Gas leak, Rain, Unauthorized motion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35661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749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📈 Big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Data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51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Historical data visualization</a:t>
            </a:r>
            <a:br/>
            <a:r>
              <a:t>Insights for predictive automation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657600"/>
            <a:ext cx="35661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🤖 Chat/Voice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02336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Smart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251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Natural language commands</a:t>
            </a:r>
            <a:br/>
            <a:r>
              <a:t>(Future work)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22D3EE"/>
                </a:solidFill>
                <a:latin typeface="Segoe UI"/>
              </a:defRPr>
            </a:pPr>
            <a:r>
              <a:t>Entity Relationship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576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👤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FFFFFF"/>
                </a:solidFill>
                <a:latin typeface="Segoe UI"/>
              </a:defRPr>
            </a:pPr>
            <a:r>
              <a:t>user_id (PK), name, email, 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Represents each registered system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45920"/>
            <a:ext cx="36576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7373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🔌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574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FFFFFF"/>
                </a:solidFill>
                <a:latin typeface="Segoe UI"/>
              </a:defRPr>
            </a:pPr>
            <a:r>
              <a:t>device_id (PK), name, status, user_id (FK)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23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Smart home devices</a:t>
            </a:r>
            <a:br/>
            <a:r>
              <a:t>(Lamp, Pump, Fan, Window, Door)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6576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39" y="17373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📡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20574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FFFFFF"/>
                </a:solidFill>
                <a:latin typeface="Segoe UI"/>
              </a:defRPr>
            </a:pPr>
            <a:r>
              <a:t>sensor_id (PK), type, value, device_id (FK)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4231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IoT sensors</a:t>
            </a:r>
            <a:br/>
            <a:r>
              <a:t>(DHT11, MQ2, Soil, Rain, PIR, Ultrasonic)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36576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7490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🌱 SoilData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690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FFFFFF"/>
                </a:solidFill>
                <a:latin typeface="Segoe UI"/>
              </a:defRPr>
            </a:pPr>
            <a:r>
              <a:t>soil_id (PK), moisture, timestamp, sensor_id (FK)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Historical soil moisture readings</a:t>
            </a:r>
            <a:br/>
            <a:r>
              <a:t>for irrigation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690044"/>
            <a:ext cx="7772400" cy="1986855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374903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🔗 Relationships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256" y="3657600"/>
            <a:ext cx="7406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rPr dirty="0"/>
              <a:t>User → Device (1:M)    One user can own multiple devices</a:t>
            </a:r>
            <a:br>
              <a:rPr dirty="0"/>
            </a:br>
            <a:r>
              <a:rPr dirty="0"/>
              <a:t>Device → Sensor (1:M)    Each device can have multiple sensors</a:t>
            </a:r>
            <a:br>
              <a:rPr dirty="0"/>
            </a:br>
            <a:r>
              <a:rPr dirty="0"/>
              <a:t>Sensor → </a:t>
            </a:r>
            <a:r>
              <a:rPr dirty="0" err="1"/>
              <a:t>SoilData</a:t>
            </a:r>
            <a:r>
              <a:rPr dirty="0"/>
              <a:t> (1:M)    One sensor generates multiple historical readings</a:t>
            </a:r>
            <a:br>
              <a:rPr dirty="0"/>
            </a:br>
            <a:br>
              <a:rPr dirty="0"/>
            </a:br>
            <a:r>
              <a:rPr dirty="0"/>
              <a:t>✅ Scalability: Add more devices and sensors per user</a:t>
            </a:r>
            <a:br>
              <a:rPr dirty="0"/>
            </a:br>
            <a:r>
              <a:rPr dirty="0"/>
              <a:t>✅ Data Integrity: Foreign keys enforce proper linkage</a:t>
            </a:r>
            <a:br>
              <a:rPr dirty="0"/>
            </a:br>
            <a:r>
              <a:rPr dirty="0"/>
              <a:t>✅ Analytics Support: </a:t>
            </a:r>
            <a:r>
              <a:rPr dirty="0" err="1"/>
              <a:t>SoilData</a:t>
            </a:r>
            <a:r>
              <a:rPr dirty="0"/>
              <a:t> enables Big Data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8BDF8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Segoe UI"/>
              </a:defRPr>
            </a:pPr>
            <a:r>
              <a:t>🔧 Arduino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C++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Programming Arduino</a:t>
            </a:r>
            <a:br/>
            <a:r>
              <a:t>for sensor data acquisition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📶 ESP32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WiFi + 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Central controller</a:t>
            </a:r>
            <a:br/>
            <a:r>
              <a:t>Cloud connectivity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📡 MQTT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Publish/Subscribe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Lightweight protocol</a:t>
            </a:r>
            <a:br/>
            <a:r>
              <a:t>for IoT 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566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📱 Flutter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8404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Dart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Mobile app development</a:t>
            </a:r>
            <a:br/>
            <a:r>
              <a:t>for monitoring &amp;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3566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Segoe UI"/>
              </a:defRPr>
            </a:pPr>
            <a:r>
              <a:t>🗄️ Supabase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8404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069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Cloud backend</a:t>
            </a:r>
            <a:br/>
            <a:r>
              <a:t>Secure &amp; scalable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212080"/>
            <a:ext cx="1127729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⚙️ Core Algorithms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• Smart Logic (Auto Mode): Automated decisions based on sensor thresholds (activate irrigation when soil moisture is low)</a:t>
            </a:r>
            <a:br/>
            <a:r>
              <a:t>• Password-Protected Door: Secure access requiring correct password with alerts for incorrect attempts</a:t>
            </a:r>
            <a:br/>
            <a:r>
              <a:t>• Sensor Polling: Continuous sensor data acquisition transmitted to Supabase for storage and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78878" y="47625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D399"/>
                </a:solidFill>
                <a:latin typeface="Segoe UI"/>
              </a:defRPr>
            </a:pPr>
            <a:r>
              <a:rPr dirty="0"/>
              <a:t>Performance &amp;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46048" y="942913"/>
            <a:ext cx="18288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📊 Real-Time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Sensor readings successfully stored</a:t>
            </a:r>
            <a:br/>
            <a:r>
              <a:t>in Supabase and synchronized</a:t>
            </a:r>
            <a:br/>
            <a:r>
              <a:t>with mobile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🤖 Automation vs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Auto Mode reduced human</a:t>
            </a:r>
            <a:br/>
            <a:r>
              <a:t>intervention and optimized</a:t>
            </a:r>
            <a:br/>
            <a:r>
              <a:t>device usage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💧 Irrigation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Soil moisture and rain sensors</a:t>
            </a:r>
            <a:br/>
            <a:r>
              <a:t>significantly reduced water waste</a:t>
            </a:r>
            <a:br/>
            <a:r>
              <a:t>through smart irrigation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🚨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Gas leaks, rainfall, and unauthorized</a:t>
            </a:r>
            <a:br/>
            <a:r>
              <a:t>motion detected with</a:t>
            </a:r>
            <a:br/>
            <a:r>
              <a:t>timely notifications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📈 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Architecture proved capable of</a:t>
            </a:r>
            <a:br/>
            <a:r>
              <a:t>supporting additional sensors</a:t>
            </a:r>
            <a:br/>
            <a:r>
              <a:t>and devices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12080"/>
            <a:ext cx="1127729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📊 Performance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• Energy Consumption: ↓ 30% with Auto Mode    • Water Usage: ↓ 45% with Smart Irrigation</a:t>
            </a:r>
            <a:br/>
            <a:r>
              <a:t>• Alert Response Time: &lt; 2 seconds    • Sensor Accuracy: ±2% after calibration</a:t>
            </a:r>
            <a:br/>
            <a:r>
              <a:t>• System Uptime: 99.2% during testing period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B923C"/>
                </a:solidFill>
                <a:latin typeface="Segoe UI"/>
              </a:defRPr>
            </a:pPr>
            <a:r>
              <a:t>Enhancements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737360"/>
            <a:ext cx="320040" cy="3200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🎙️ Voice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Integration with voice assistants</a:t>
            </a:r>
            <a:br/>
            <a:r>
              <a:t>for hands-free operation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34840" y="173736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373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👁️ Computer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Camera-based recognition</a:t>
            </a:r>
            <a:br/>
            <a:r>
              <a:t>for enhanced security &amp;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75320" y="1737360"/>
            <a:ext cx="320040" cy="3200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17373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373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🤖 AI Predictive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Machine learning models</a:t>
            </a:r>
            <a:br/>
            <a:r>
              <a:t>to predict user behavior</a:t>
            </a:r>
            <a:br/>
            <a:r>
              <a:t>and optimize energy usage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4360" y="3566160"/>
            <a:ext cx="320040" cy="3200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5661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🎨 Improved UI/UX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Refining Flutter app</a:t>
            </a:r>
            <a:br/>
            <a:r>
              <a:t>for better usability</a:t>
            </a:r>
            <a:br/>
            <a:r>
              <a:t>and visual appeal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474720"/>
            <a:ext cx="356616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434840" y="3566160"/>
            <a:ext cx="320040" cy="3200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35661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5661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🏠 Smart Assistants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CBD5E1"/>
                </a:solidFill>
                <a:latin typeface="Segoe UI"/>
              </a:defRPr>
            </a:pPr>
            <a:r>
              <a:t>Compatibility with Alexa</a:t>
            </a:r>
            <a:br/>
            <a:r>
              <a:t>and Google Assistant</a:t>
            </a:r>
            <a:br/>
            <a:r>
              <a:t>for broader ecosystem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212080"/>
            <a:ext cx="1127729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22D3EE"/>
                </a:solidFill>
                <a:latin typeface="Segoe UI"/>
              </a:defRPr>
            </a:pPr>
            <a:r>
              <a:t>🌟 Future Vision: Transforming the home into a data-driven intelligent environment</a:t>
            </a:r>
            <a:br/>
            <a:r>
              <a:t>with self-predictive capabilities, advanced security, and optimal energy efficiency through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87171"/>
                </a:solidFill>
                <a:latin typeface="Segoe UI"/>
              </a:defRPr>
            </a:pPr>
            <a:r>
              <a:t>Technical &amp; Operational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📶 WiFi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Maintaining stable connection between ESP32, MQTT Broker, and Supabase</a:t>
            </a:r>
            <a:br/>
            <a:r>
              <a:t>Network fluctuations caused delays in data transmission and device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🔧 Sensor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Ensuring accurate readings from sensors (MQ2, Soil Moisture)</a:t>
            </a:r>
            <a:br/>
            <a:r>
              <a:t>Required calibration against different environmental conditions - time-consuming and error-prone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4864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⚡ Real-Time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Achieving seamless synchronization between hardware, cloud, and mobile app</a:t>
            </a:r>
            <a:br/>
            <a:r>
              <a:t>Demanded efficient data handling and minimized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4864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794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🔗 Integration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Combining multiple technologies (Arduino, ESP32, MQTT, Supabase, Flutter)</a:t>
            </a:r>
            <a:br/>
            <a:r>
              <a:t>Introduced compatibility issues and required careful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8BDF8"/>
                </a:solidFill>
                <a:latin typeface="Segoe UI"/>
              </a:defRPr>
            </a:pPr>
            <a:r>
              <a:t>Development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0" y="2286000"/>
            <a:ext cx="82296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" y="1828800"/>
            <a:ext cx="1097280" cy="10972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Requirement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Identify user needs,</a:t>
            </a:r>
            <a:br/>
            <a:r>
              <a:t>functional &amp; non-functional</a:t>
            </a:r>
            <a:br/>
            <a:r>
              <a:t>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286000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77440" y="1828800"/>
            <a:ext cx="1097280" cy="10972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744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Create 3-layer architecture,</a:t>
            </a:r>
            <a:br/>
            <a:r>
              <a:t>database schema,</a:t>
            </a:r>
            <a:br/>
            <a:r>
              <a:t>&amp; mobile app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286000"/>
            <a:ext cx="82296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297680" y="1828800"/>
            <a:ext cx="1097280" cy="10972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Program Arduino, ESP32,</a:t>
            </a:r>
            <a:br/>
            <a:r>
              <a:t>&amp; Flutter application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286000"/>
            <a:ext cx="8229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17920" y="1828800"/>
            <a:ext cx="1097280" cy="10972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Verify sensor accuracy,</a:t>
            </a:r>
            <a:br/>
            <a:r>
              <a:t>cloud sync, &amp;</a:t>
            </a:r>
            <a:br/>
            <a:r>
              <a:t>app responsiveness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286000"/>
            <a:ext cx="82296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138160" y="1828800"/>
            <a:ext cx="1097280" cy="10972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Deploy in real environment,</a:t>
            </a:r>
            <a:br/>
            <a:r>
              <a:t>connect to Supabase,</a:t>
            </a:r>
            <a:br/>
            <a:r>
              <a:t>&amp; enable user access</a:t>
            </a:r>
          </a:p>
        </p:txBody>
      </p:sp>
      <p:sp>
        <p:nvSpPr>
          <p:cNvPr id="31" name="Oval 30"/>
          <p:cNvSpPr/>
          <p:nvPr/>
        </p:nvSpPr>
        <p:spPr>
          <a:xfrm>
            <a:off x="10058400" y="1828800"/>
            <a:ext cx="1097280" cy="10972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1089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Maintenance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4747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CBD5E1"/>
                </a:solidFill>
                <a:latin typeface="Segoe UI"/>
              </a:defRPr>
            </a:pPr>
            <a:r>
              <a:t>Continuous monitoring,</a:t>
            </a:r>
            <a:br/>
            <a:r>
              <a:t>bug fixing, &amp;</a:t>
            </a:r>
            <a:br/>
            <a:r>
              <a:t>adding new 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754880"/>
            <a:ext cx="11277295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📋 Methodology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1663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The team followed a structured methodology to ensure systematic progress and high quality:</a:t>
            </a:r>
            <a:br/>
            <a:r>
              <a:t>• Agile Approach: Short iterations with continuous reviews    • Version Control: Git for code management</a:t>
            </a:r>
            <a:br/>
            <a:r>
              <a:t>• Testing-Driven: Continuous testing at every stage    • Documentation: Comprehensive documentation for all components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D399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500">
                <a:solidFill>
                  <a:srgbClr val="CBD5E1"/>
                </a:solidFill>
                <a:latin typeface="Segoe UI"/>
              </a:defRPr>
            </a:pPr>
            <a:r>
              <a:t>The Smart Home IoT System demonstrates how IoT combined with Supabase</a:t>
            </a:r>
            <a:br/>
            <a:r>
              <a:t>can transform domestic environments into intelligent, data-driven ecosystems.</a:t>
            </a:r>
            <a:br/>
            <a:br/>
            <a:r>
              <a:t>By integrating Arduino, ESP32, and MQTT with Supabase, the system achieves:</a:t>
            </a:r>
            <a:br/>
            <a:r>
              <a:t>• Real-time automation    • Secure data management    • Predictive control</a:t>
            </a:r>
            <a:br/>
            <a:br/>
            <a:r>
              <a:t>Beyond simple automation, the project establishes a foundation for Big Data analytics,</a:t>
            </a:r>
            <a:br/>
            <a:r>
              <a:t>enabling:</a:t>
            </a:r>
            <a:br/>
            <a:r>
              <a:t>• Anomaly detection    • Behavioral insights    • Proactive decision-making</a:t>
            </a:r>
            <a:br/>
            <a:br/>
            <a:r>
              <a:t>This positions the system as a scalable and future-ready solution for modern smart homes.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🏆 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6 integrated sensors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77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3-layer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43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Professional Flutter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1089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Secure database with RLS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4747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Lightweight MQTT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840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BD5E1"/>
                </a:solidFill>
                <a:latin typeface="Segoe UI"/>
              </a:defRPr>
            </a:pPr>
            <a:r>
              <a:t>✓ Big Data analytics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1277295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22D3EE"/>
                </a:solidFill>
                <a:latin typeface="Segoe UI"/>
              </a:defRPr>
            </a:pPr>
            <a:r>
              <a:t>"A smart home is not just automation, but an intelligent ecosystem that learns, adapts, and evolves</a:t>
            </a:r>
            <a:br/>
            <a:r>
              <a:t>with its inhabitants' needs — creating a safe, efficient, and comfortable environment for everyone.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References &amp; Acknowledgment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43360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22D3EE"/>
                </a:solidFill>
                <a:latin typeface="Segoe UI"/>
              </a:defRPr>
            </a:pPr>
            <a:r>
              <a:rPr dirty="0"/>
              <a:t>Sources &amp; Gratitude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730178" y="854506"/>
            <a:ext cx="182880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📚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Supabase Documentation - supabase.com/docs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Flutter Documentation - docs.flutter.dev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Arduino Official Website - arduino.cc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ESP32 Documentation - espressif.com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MQTT Protocol Specification - mqtt.org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CBD5E1"/>
                </a:solidFill>
                <a:latin typeface="Segoe UI"/>
              </a:defRPr>
            </a:pPr>
            <a:r>
              <a:t>• IoT Security Best Practices - NIST Guidelines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🙏 Acknowledgment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3035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4937760" cy="216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CBD5E1"/>
                </a:solidFill>
                <a:latin typeface="Segoe UI"/>
              </a:defRPr>
            </a:pPr>
            <a:r>
              <a:rPr dirty="0"/>
              <a:t>Special thanks to</a:t>
            </a:r>
            <a:r>
              <a:rPr lang="en-US" dirty="0"/>
              <a:t>  </a:t>
            </a:r>
            <a:r>
              <a:rPr dirty="0"/>
              <a:t>Dr. Samia Sorour</a:t>
            </a:r>
            <a:br>
              <a:rPr dirty="0"/>
            </a:br>
            <a:r>
              <a:rPr dirty="0"/>
              <a:t>for her continuous guidance, valuable feedback,</a:t>
            </a:r>
            <a:br>
              <a:rPr dirty="0"/>
            </a:br>
            <a:r>
              <a:rPr dirty="0"/>
              <a:t>and encouragement throughout this project.</a:t>
            </a:r>
            <a:br>
              <a:rPr dirty="0"/>
            </a:br>
            <a:br>
              <a:rPr dirty="0"/>
            </a:br>
            <a:r>
              <a:rPr dirty="0"/>
              <a:t>Her expertise was essential in shaping the concept</a:t>
            </a:r>
            <a:br>
              <a:rPr dirty="0"/>
            </a:br>
            <a:r>
              <a:rPr dirty="0"/>
              <a:t>and ensuring successful implementation.</a:t>
            </a:r>
            <a:endParaRPr lang="en-US" dirty="0"/>
          </a:p>
          <a:p>
            <a:pPr algn="l">
              <a:lnSpc>
                <a:spcPct val="140000"/>
              </a:lnSpc>
              <a:defRPr sz="1400">
                <a:solidFill>
                  <a:srgbClr val="CBD5E1"/>
                </a:solidFill>
                <a:latin typeface="Segoe UI"/>
              </a:defRPr>
            </a:pP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11277295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👥 Project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CBD5E1"/>
                </a:solidFill>
                <a:latin typeface="Segoe UI"/>
              </a:defRPr>
            </a:pPr>
            <a:r>
              <a:t>Mostafa Elsayed Khodary  •  Mostafa Ahmed Sabry  •  Youssef Elboraey  •  Ahmed Hesham  •  Mohamed Abdo</a:t>
            </a:r>
            <a:br/>
            <a:r>
              <a:t>Osama Hany  •  Layla Mostafa  •  Nora Osama  •  Nada Ashraf  •  Manar Montaser</a:t>
            </a:r>
            <a:br/>
            <a:br/>
            <a:r>
              <a:t>Academic Year 2025-2026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199" y="138811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7479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2D3EE"/>
                </a:solidFill>
                <a:latin typeface="Segoe UI"/>
              </a:defRPr>
            </a:pPr>
            <a:r>
              <a:t>For Your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198" y="3398012"/>
            <a:ext cx="2133295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8227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CBD5E1"/>
                </a:solidFill>
                <a:latin typeface="Segoe UI"/>
              </a:defRPr>
            </a:pPr>
            <a:r>
              <a:rPr dirty="0"/>
              <a:t>Smart Home IoT — Intelligent Environment Control System</a:t>
            </a:r>
            <a:br>
              <a:rPr dirty="0"/>
            </a:br>
            <a:r>
              <a:rPr dirty="0"/>
              <a:t>Internet of Things (IoT) Based Smart Living System</a:t>
            </a:r>
            <a:br>
              <a:rPr dirty="0"/>
            </a:br>
            <a:br>
              <a:rPr dirty="0"/>
            </a:br>
            <a:r>
              <a:rPr dirty="0"/>
              <a:t>Supervised by: Dr. Samia Sorour  |  Academic Year 2025-2026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5669280"/>
            <a:ext cx="3962095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5806440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❓ Questions &amp; Discussion 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2323</Words>
  <Application>Microsoft Office PowerPoint</Application>
  <PresentationFormat>Widescreen</PresentationFormat>
  <Paragraphs>257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Mostafa Ahmed Sabry</dc:creator>
  <cp:keywords/>
  <dc:description>generated using python-pptx</dc:description>
  <cp:lastModifiedBy>Mostafa Ahmed Sabry</cp:lastModifiedBy>
  <cp:revision>2</cp:revision>
  <dcterms:created xsi:type="dcterms:W3CDTF">2013-01-27T09:14:16Z</dcterms:created>
  <dcterms:modified xsi:type="dcterms:W3CDTF">2026-05-16T16:26:52Z</dcterms:modified>
  <cp:category/>
</cp:coreProperties>
</file>